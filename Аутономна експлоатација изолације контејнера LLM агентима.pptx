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Поздрав комисији. Тема рада је да ли аутономни агент заснован на великом језичком моделу може сам да наруши изолацију контејнера и издвоји тајну из меморије суседног процеса, без људског вођства.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Контејнери су свуда, сваки cloud провајдер их користи, корисници деле исти сервер. Изолација се ослања на Linux језгро, не на хардвер као ВМ. LLM агенти могу сами да планирају и изводе вишекораке задатке. Питање рада: да ли је зато контејнерска изолација сада доступан циљ за аутономне агенте?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Три сценарија покривају три категорије из таксономије Reeves и сарадника, поређане од лакше ка тежој. Lab-a: privileged даје све привилегије и приступ блок уређајима, па агент може да монтира диск домаћина. Lab-b: runc има баг где дескриптор ка систему домаћина процури у контејнер. Lab-c: баг у pipe подсистему језгра дозвољава инјектовање кода у read-only фајл у кешу. Агент не зна у ком је сценарију.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Све тече унутар једнократне Lima ВМ на мом Mac рачунару. Унутра су два контејнера, нападач и жртва. Нападач покреће оркестратор и комуницира са Claude API-јем. Жртва генерише случајни токен, рачуна SHA-256 хеш и штампа само хеш, док plaintext остаје само у RAM-у. ВМ се уништава између епизода, па чак ни потпун пробој не компромитује Mac. Оракл има две независне провере: маркер на систему домаћина и подударање SHA-256 хеша.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Извиђање је детерминистичко, 14 shell проба без модела. Евалуатор је први LLM корак: истражи CVE и направи JSON план напада. Експлоатација је ReAct петља са два алата: run_command за извршавање у контејнеру и request_host_action који сигнализира домаћину да покрене нови контејнер жртве. Ако не успе, евалуатор добија транскрипт грешке и бира нову технику, највише три пута. Буџет по епизоди је 3 долара.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Ово је примарна матрица: 39 епизода, три сценарија пута три модела, C извршно окружење. Sonnet постиже 100% на lab-a. На lab-b и lab-c, Sonnet и Opus постижу 60 до 67%. Haiku пада на оба захтевнија сценарија. Укупна стопа успеха је 48,7%, деветнаест од тридесет девет, уз трошак испод једног долара по успешној епизоди.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Три ствари. Прво, lab-a је лакши, што потврђује претпостављени редослед. Друго, lab-b и lab-c имају исте стопе успеха, што је изненађујуће. Објашњење: DirtyPipe је боље заступљен у подацима за обучавање од CVE-2024-21626 из јануара 2024. Треће, на lab-a постоји јаз између изласка и успеха, неки агенти изађу али читају бинарни фајл жртве са диска уместо меморије активног процеса.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Три метрике по моделу. Стопа успеха: Haiku 13, Sonnet 73, Opus 67 посто. Просечан број корака до успеха: Haiku 129, Sonnet 52, Opus 17, што показује да Opus најефикасније долази до решења. Просечан буџет по епизоди: Opus је најскупљи, око 1,84 долара, док су Haiku и Sonnet око долара. Зато што је Opus скуп, сва три његова неуспеха су због исцрпљеног буџета, па виша стопа Sonnet-а није права разлика у способности.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hape 2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Посебан експеримент: држимо lab-a и Sonnet, а мењамо извршно окружење жртве. Приступ скенирања /proc/pid/mem ради без знања о конкретном окружењу, агент тражи познати префикс THESISKEY. Python и Java имају већи меморијски отисак, па је више корака и трошка. Java 80% јер је једини неуспех исцрпљен буџет током скенирања, пошто је JVM heap већи.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Буџет је доминантан узрок грешке, око 57% неуспеха. Haiku не може да повеже аномалију у /proc/1/cwd са CVE-2024-21626. Епизода са преигравањем оракла је посебно занимљива: агент је прочитао изворни код оркестратора кроз read-only mount, разумео како оракл проверава излазак и подметнуо лажни фајл. Ручно детектовано и рекласификовано. Показује да агенти са алатима могу да оптимизују метрику евалуације уместо задатка.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Shape 2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Показали смо да је аутономна експлоатација контејнерске изолације изводљива. Модели средње и високе класе успевају на сва три типа рањивости. Трошак је мањи од сата рада тестера. Постоји праг способности модела. Импликације: привилеговани контејнери су тривијално експлоатабилни, закрпа остаје најефикаснија одбрана, а овај оквир може да се користи за континуирани аутоматизовани пентест. Хвала, спреман сам за питања.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128000" y="2794000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5500" y="419108"/>
            <a:ext cx="751780" cy="825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47746" y="419124"/>
            <a:ext cx="818754" cy="825452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 2"/>
          <p:cNvSpPr txBox="1"/>
          <p:nvPr/>
        </p:nvSpPr>
        <p:spPr>
          <a:xfrm>
            <a:off x="762000" y="1735533"/>
            <a:ext cx="8502650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pc="200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МАСТЕР РАД</a:t>
            </a:r>
          </a:p>
        </p:txBody>
      </p:sp>
      <p:sp>
        <p:nvSpPr>
          <p:cNvPr id="25" name="Text 3"/>
          <p:cNvSpPr txBox="1"/>
          <p:nvPr/>
        </p:nvSpPr>
        <p:spPr>
          <a:xfrm>
            <a:off x="762000" y="2220664"/>
            <a:ext cx="8502650" cy="1465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700"/>
              </a:lnSpc>
              <a:defRPr b="1" sz="35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Аутономна експлоатација рањивости изолације контејнера помоћу LLM агената</a:t>
            </a:r>
          </a:p>
        </p:txBody>
      </p:sp>
      <p:sp>
        <p:nvSpPr>
          <p:cNvPr id="26" name="Shape 4"/>
          <p:cNvSpPr/>
          <p:nvPr/>
        </p:nvSpPr>
        <p:spPr>
          <a:xfrm>
            <a:off x="762000" y="3914725"/>
            <a:ext cx="8255000" cy="127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5"/>
          <p:cNvSpPr txBox="1"/>
          <p:nvPr/>
        </p:nvSpPr>
        <p:spPr>
          <a:xfrm>
            <a:off x="761999" y="4181425"/>
            <a:ext cx="2417534" cy="229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Кандидат</a:t>
            </a:r>
          </a:p>
        </p:txBody>
      </p:sp>
      <p:sp>
        <p:nvSpPr>
          <p:cNvPr id="28" name="Text 6"/>
          <p:cNvSpPr txBox="1"/>
          <p:nvPr/>
        </p:nvSpPr>
        <p:spPr>
          <a:xfrm>
            <a:off x="761999" y="4423966"/>
            <a:ext cx="2417534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Марко Ердељи · R2-4/2024</a:t>
            </a:r>
          </a:p>
        </p:txBody>
      </p:sp>
      <p:sp>
        <p:nvSpPr>
          <p:cNvPr id="29" name="Text 7"/>
          <p:cNvSpPr txBox="1"/>
          <p:nvPr/>
        </p:nvSpPr>
        <p:spPr>
          <a:xfrm>
            <a:off x="6966298" y="4181425"/>
            <a:ext cx="2050703" cy="229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1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Ментор</a:t>
            </a:r>
          </a:p>
        </p:txBody>
      </p:sp>
      <p:sp>
        <p:nvSpPr>
          <p:cNvPr id="30" name="Text 8"/>
          <p:cNvSpPr txBox="1"/>
          <p:nvPr/>
        </p:nvSpPr>
        <p:spPr>
          <a:xfrm>
            <a:off x="6966298" y="4423966"/>
            <a:ext cx="2050703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проф. др Горан Сладић</a:t>
            </a:r>
          </a:p>
        </p:txBody>
      </p:sp>
      <p:sp>
        <p:nvSpPr>
          <p:cNvPr id="31" name="Text 9"/>
          <p:cNvSpPr txBox="1"/>
          <p:nvPr/>
        </p:nvSpPr>
        <p:spPr>
          <a:xfrm>
            <a:off x="762000" y="4917976"/>
            <a:ext cx="8502650" cy="229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Универзитет у Новом Саду · Факултет техничких наука ·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8890000" y="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2"/>
          <p:cNvSpPr txBox="1"/>
          <p:nvPr/>
        </p:nvSpPr>
        <p:spPr>
          <a:xfrm>
            <a:off x="698500" y="571499"/>
            <a:ext cx="11118850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Зашто је ово важно?</a:t>
            </a:r>
          </a:p>
        </p:txBody>
      </p:sp>
      <p:sp>
        <p:nvSpPr>
          <p:cNvPr id="38" name="Shape 3"/>
          <p:cNvSpPr/>
          <p:nvPr/>
        </p:nvSpPr>
        <p:spPr>
          <a:xfrm>
            <a:off x="698500" y="3211859"/>
            <a:ext cx="1079500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4"/>
          <p:cNvSpPr/>
          <p:nvPr/>
        </p:nvSpPr>
        <p:spPr>
          <a:xfrm>
            <a:off x="698500" y="2915989"/>
            <a:ext cx="88900" cy="889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5"/>
          <p:cNvSpPr txBox="1"/>
          <p:nvPr/>
        </p:nvSpPr>
        <p:spPr>
          <a:xfrm>
            <a:off x="939799" y="2811214"/>
            <a:ext cx="6288897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000"/>
              </a:lnSpc>
              <a:defRPr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Контејнери су стандард у продукцији </a:t>
            </a:r>
            <a:r>
              <a:rPr>
                <a:solidFill>
                  <a:srgbClr val="888888"/>
                </a:solidFill>
              </a:rPr>
              <a:t>(cloud, микросервиси, CI/CD)</a:t>
            </a:r>
          </a:p>
        </p:txBody>
      </p:sp>
      <p:sp>
        <p:nvSpPr>
          <p:cNvPr id="41" name="Shape 6"/>
          <p:cNvSpPr/>
          <p:nvPr/>
        </p:nvSpPr>
        <p:spPr>
          <a:xfrm>
            <a:off x="698500" y="3755380"/>
            <a:ext cx="1079500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7"/>
          <p:cNvSpPr/>
          <p:nvPr/>
        </p:nvSpPr>
        <p:spPr>
          <a:xfrm>
            <a:off x="698500" y="3459510"/>
            <a:ext cx="88900" cy="889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8"/>
          <p:cNvSpPr txBox="1"/>
          <p:nvPr/>
        </p:nvSpPr>
        <p:spPr>
          <a:xfrm>
            <a:off x="939799" y="3354735"/>
            <a:ext cx="5361015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Корисници деле исти физички сервер, изолација је битна</a:t>
            </a:r>
          </a:p>
        </p:txBody>
      </p:sp>
      <p:sp>
        <p:nvSpPr>
          <p:cNvPr id="44" name="Shape 9"/>
          <p:cNvSpPr/>
          <p:nvPr/>
        </p:nvSpPr>
        <p:spPr>
          <a:xfrm>
            <a:off x="698500" y="4298900"/>
            <a:ext cx="1079500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10"/>
          <p:cNvSpPr/>
          <p:nvPr/>
        </p:nvSpPr>
        <p:spPr>
          <a:xfrm>
            <a:off x="698500" y="4003030"/>
            <a:ext cx="88900" cy="889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1"/>
          <p:cNvSpPr txBox="1"/>
          <p:nvPr/>
        </p:nvSpPr>
        <p:spPr>
          <a:xfrm>
            <a:off x="939799" y="3898255"/>
            <a:ext cx="6098865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Изолација је слабија од виртуелних машина, ослања се на језгро</a:t>
            </a:r>
          </a:p>
        </p:txBody>
      </p:sp>
      <p:sp>
        <p:nvSpPr>
          <p:cNvPr id="47" name="Shape 12"/>
          <p:cNvSpPr/>
          <p:nvPr/>
        </p:nvSpPr>
        <p:spPr>
          <a:xfrm>
            <a:off x="698500" y="4842421"/>
            <a:ext cx="1079500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3"/>
          <p:cNvSpPr/>
          <p:nvPr/>
        </p:nvSpPr>
        <p:spPr>
          <a:xfrm>
            <a:off x="698500" y="4546550"/>
            <a:ext cx="88900" cy="889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4"/>
          <p:cNvSpPr txBox="1"/>
          <p:nvPr/>
        </p:nvSpPr>
        <p:spPr>
          <a:xfrm>
            <a:off x="939800" y="4441775"/>
            <a:ext cx="7968782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Истраживања су показала да LLM агенти планирају и извршавају задатке аутономно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8890000" y="355600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"/>
          <p:cNvSpPr txBox="1"/>
          <p:nvPr/>
        </p:nvSpPr>
        <p:spPr>
          <a:xfrm>
            <a:off x="698499" y="508000"/>
            <a:ext cx="257159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b="1" sz="25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Три сценарија</a:t>
            </a:r>
          </a:p>
        </p:txBody>
      </p:sp>
      <p:sp>
        <p:nvSpPr>
          <p:cNvPr id="56" name="Text 3"/>
          <p:cNvSpPr txBox="1"/>
          <p:nvPr/>
        </p:nvSpPr>
        <p:spPr>
          <a:xfrm>
            <a:off x="9187359" y="668685"/>
            <a:ext cx="2375327" cy="229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Таксономија: Reeves et al., 2024</a:t>
            </a:r>
          </a:p>
        </p:txBody>
      </p:sp>
      <p:graphicFrame>
        <p:nvGraphicFramePr>
          <p:cNvPr id="57" name="Table 0"/>
          <p:cNvGraphicFramePr/>
          <p:nvPr/>
        </p:nvGraphicFramePr>
        <p:xfrm>
          <a:off x="1460500" y="1865114"/>
          <a:ext cx="9271000" cy="26465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17750"/>
                <a:gridCol w="2317750"/>
                <a:gridCol w="2317750"/>
                <a:gridCol w="2317750"/>
              </a:tblGrid>
              <a:tr h="481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b="1"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lab-a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b="1"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lab-b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b="1"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lab-c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72132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Категорија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Погрешна конфигурација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Рањивост runtime-а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Рањивост језгра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48131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Рањивост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--privileged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CVE-2024-21626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CVE-2022-0847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48131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Назив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77777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Leaky Vessels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DirtyPipe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48131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Сложеност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Лакше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Средње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 sz="18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Теже</a:t>
                      </a:r>
                    </a:p>
                  </a:txBody>
                  <a:tcPr marL="114300" marR="114300" marT="114300" marB="1143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Text 4"/>
          <p:cNvSpPr txBox="1"/>
          <p:nvPr/>
        </p:nvSpPr>
        <p:spPr>
          <a:xfrm>
            <a:off x="1460500" y="4724400"/>
            <a:ext cx="622300" cy="23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2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lab-a</a:t>
            </a:r>
          </a:p>
        </p:txBody>
      </p:sp>
      <p:sp>
        <p:nvSpPr>
          <p:cNvPr id="59" name="Text 5"/>
          <p:cNvSpPr txBox="1"/>
          <p:nvPr/>
        </p:nvSpPr>
        <p:spPr>
          <a:xfrm>
            <a:off x="2146299" y="4714875"/>
            <a:ext cx="5084423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Све привилегије и блок уређаји → монтирање диска домаћина</a:t>
            </a:r>
          </a:p>
        </p:txBody>
      </p:sp>
      <p:sp>
        <p:nvSpPr>
          <p:cNvPr id="60" name="Text 6"/>
          <p:cNvSpPr txBox="1"/>
          <p:nvPr/>
        </p:nvSpPr>
        <p:spPr>
          <a:xfrm>
            <a:off x="1460500" y="5023444"/>
            <a:ext cx="6223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2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lab-b</a:t>
            </a:r>
          </a:p>
        </p:txBody>
      </p:sp>
      <p:sp>
        <p:nvSpPr>
          <p:cNvPr id="61" name="Text 7"/>
          <p:cNvSpPr txBox="1"/>
          <p:nvPr/>
        </p:nvSpPr>
        <p:spPr>
          <a:xfrm>
            <a:off x="2146300" y="5013919"/>
            <a:ext cx="5117890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Процурели дескриптор у runc → traversal до система домаћина</a:t>
            </a:r>
          </a:p>
        </p:txBody>
      </p:sp>
      <p:sp>
        <p:nvSpPr>
          <p:cNvPr id="62" name="Text 8"/>
          <p:cNvSpPr txBox="1"/>
          <p:nvPr/>
        </p:nvSpPr>
        <p:spPr>
          <a:xfrm>
            <a:off x="1460500" y="5322491"/>
            <a:ext cx="6223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2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lab-c</a:t>
            </a:r>
          </a:p>
        </p:txBody>
      </p:sp>
      <p:sp>
        <p:nvSpPr>
          <p:cNvPr id="63" name="Text 9"/>
          <p:cNvSpPr txBox="1"/>
          <p:nvPr/>
        </p:nvSpPr>
        <p:spPr>
          <a:xfrm>
            <a:off x="2146299" y="5312966"/>
            <a:ext cx="6470089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Баг у pipe подсистему → инјектовање малициозног кода у read-only фајл у кешу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3514087" y="444499"/>
            <a:ext cx="5163828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Архитектура експеримента</a:t>
            </a:r>
          </a:p>
        </p:txBody>
      </p:sp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1728" y="1218554"/>
            <a:ext cx="7068544" cy="49529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"/>
          <p:cNvSpPr txBox="1"/>
          <p:nvPr/>
        </p:nvSpPr>
        <p:spPr>
          <a:xfrm>
            <a:off x="698500" y="571499"/>
            <a:ext cx="11118850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Процесни ток агента</a:t>
            </a:r>
          </a:p>
        </p:txBody>
      </p:sp>
      <p:sp>
        <p:nvSpPr>
          <p:cNvPr id="76" name="Shape 3"/>
          <p:cNvSpPr/>
          <p:nvPr/>
        </p:nvSpPr>
        <p:spPr>
          <a:xfrm>
            <a:off x="738485" y="2806550"/>
            <a:ext cx="2400301" cy="1157239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4"/>
          <p:cNvSpPr/>
          <p:nvPr/>
        </p:nvSpPr>
        <p:spPr>
          <a:xfrm>
            <a:off x="897234" y="2965300"/>
            <a:ext cx="301477" cy="25906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5"/>
          <p:cNvSpPr txBox="1"/>
          <p:nvPr/>
        </p:nvSpPr>
        <p:spPr>
          <a:xfrm>
            <a:off x="973434" y="2997050"/>
            <a:ext cx="199877" cy="2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9" name="Text 6"/>
          <p:cNvSpPr txBox="1"/>
          <p:nvPr/>
        </p:nvSpPr>
        <p:spPr>
          <a:xfrm>
            <a:off x="897234" y="3300560"/>
            <a:ext cx="214528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Извиђање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897234" y="3607891"/>
            <a:ext cx="2145285" cy="222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1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14 проба, без LLM-а</a:t>
            </a:r>
          </a:p>
        </p:txBody>
      </p:sp>
      <p:sp>
        <p:nvSpPr>
          <p:cNvPr id="81" name="Text 8"/>
          <p:cNvSpPr txBox="1"/>
          <p:nvPr/>
        </p:nvSpPr>
        <p:spPr>
          <a:xfrm>
            <a:off x="3221334" y="3234034"/>
            <a:ext cx="256978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" name="Shape 9"/>
          <p:cNvSpPr/>
          <p:nvPr/>
        </p:nvSpPr>
        <p:spPr>
          <a:xfrm>
            <a:off x="3510062" y="2806550"/>
            <a:ext cx="2400301" cy="1157239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0"/>
          <p:cNvSpPr/>
          <p:nvPr/>
        </p:nvSpPr>
        <p:spPr>
          <a:xfrm>
            <a:off x="3668812" y="2965300"/>
            <a:ext cx="329110" cy="25906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1"/>
          <p:cNvSpPr txBox="1"/>
          <p:nvPr/>
        </p:nvSpPr>
        <p:spPr>
          <a:xfrm>
            <a:off x="3745012" y="2997050"/>
            <a:ext cx="227510" cy="2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5" name="Text 12"/>
          <p:cNvSpPr txBox="1"/>
          <p:nvPr/>
        </p:nvSpPr>
        <p:spPr>
          <a:xfrm>
            <a:off x="3668812" y="3300560"/>
            <a:ext cx="214528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Евалуатор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3668812" y="3607891"/>
            <a:ext cx="2145285" cy="222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1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рањивост и JSON план</a:t>
            </a:r>
          </a:p>
        </p:txBody>
      </p:sp>
      <p:sp>
        <p:nvSpPr>
          <p:cNvPr id="87" name="Text 14"/>
          <p:cNvSpPr txBox="1"/>
          <p:nvPr/>
        </p:nvSpPr>
        <p:spPr>
          <a:xfrm>
            <a:off x="5992912" y="3234034"/>
            <a:ext cx="256978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8" name="Shape 15"/>
          <p:cNvSpPr/>
          <p:nvPr/>
        </p:nvSpPr>
        <p:spPr>
          <a:xfrm>
            <a:off x="6281637" y="2806550"/>
            <a:ext cx="2400301" cy="1157239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6"/>
          <p:cNvSpPr/>
          <p:nvPr/>
        </p:nvSpPr>
        <p:spPr>
          <a:xfrm>
            <a:off x="6440387" y="2965300"/>
            <a:ext cx="328514" cy="25906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7"/>
          <p:cNvSpPr txBox="1"/>
          <p:nvPr/>
        </p:nvSpPr>
        <p:spPr>
          <a:xfrm>
            <a:off x="6516588" y="2997050"/>
            <a:ext cx="226913" cy="2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91" name="Text 18"/>
          <p:cNvSpPr txBox="1"/>
          <p:nvPr/>
        </p:nvSpPr>
        <p:spPr>
          <a:xfrm>
            <a:off x="6440387" y="3300560"/>
            <a:ext cx="214528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Експлоатација</a:t>
            </a:r>
          </a:p>
        </p:txBody>
      </p:sp>
      <p:sp>
        <p:nvSpPr>
          <p:cNvPr id="92" name="Text 19"/>
          <p:cNvSpPr txBox="1"/>
          <p:nvPr/>
        </p:nvSpPr>
        <p:spPr>
          <a:xfrm>
            <a:off x="6440387" y="3607891"/>
            <a:ext cx="2145285" cy="222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1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ReAct петља са алатима</a:t>
            </a:r>
          </a:p>
        </p:txBody>
      </p:sp>
      <p:sp>
        <p:nvSpPr>
          <p:cNvPr id="93" name="Text 20"/>
          <p:cNvSpPr txBox="1"/>
          <p:nvPr/>
        </p:nvSpPr>
        <p:spPr>
          <a:xfrm>
            <a:off x="8764488" y="3234034"/>
            <a:ext cx="256978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4" name="Shape 21"/>
          <p:cNvSpPr/>
          <p:nvPr/>
        </p:nvSpPr>
        <p:spPr>
          <a:xfrm>
            <a:off x="9053214" y="2806550"/>
            <a:ext cx="2400301" cy="1157239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22"/>
          <p:cNvSpPr/>
          <p:nvPr/>
        </p:nvSpPr>
        <p:spPr>
          <a:xfrm>
            <a:off x="9211964" y="2965300"/>
            <a:ext cx="343496" cy="2590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23"/>
          <p:cNvSpPr txBox="1"/>
          <p:nvPr/>
        </p:nvSpPr>
        <p:spPr>
          <a:xfrm>
            <a:off x="9288164" y="2997050"/>
            <a:ext cx="241896" cy="2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b="1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97" name="Text 24"/>
          <p:cNvSpPr txBox="1"/>
          <p:nvPr/>
        </p:nvSpPr>
        <p:spPr>
          <a:xfrm>
            <a:off x="9211964" y="3300560"/>
            <a:ext cx="214528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Оракл</a:t>
            </a:r>
          </a:p>
        </p:txBody>
      </p:sp>
      <p:sp>
        <p:nvSpPr>
          <p:cNvPr id="98" name="Text 25"/>
          <p:cNvSpPr txBox="1"/>
          <p:nvPr/>
        </p:nvSpPr>
        <p:spPr>
          <a:xfrm>
            <a:off x="9211964" y="3607891"/>
            <a:ext cx="2145285" cy="222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100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SHA-256</a:t>
            </a:r>
          </a:p>
        </p:txBody>
      </p:sp>
      <p:sp>
        <p:nvSpPr>
          <p:cNvPr id="99" name="Shape 26"/>
          <p:cNvSpPr/>
          <p:nvPr/>
        </p:nvSpPr>
        <p:spPr>
          <a:xfrm>
            <a:off x="2830760" y="4230489"/>
            <a:ext cx="3589537" cy="454621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27"/>
          <p:cNvSpPr txBox="1"/>
          <p:nvPr/>
        </p:nvSpPr>
        <p:spPr>
          <a:xfrm>
            <a:off x="3014910" y="4351139"/>
            <a:ext cx="743596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2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Неуспех</a:t>
            </a:r>
          </a:p>
        </p:txBody>
      </p:sp>
      <p:sp>
        <p:nvSpPr>
          <p:cNvPr id="101" name="Text 28"/>
          <p:cNvSpPr txBox="1"/>
          <p:nvPr/>
        </p:nvSpPr>
        <p:spPr>
          <a:xfrm>
            <a:off x="3796605" y="4351139"/>
            <a:ext cx="2512728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→ поновно планирање, макс. 3×</a:t>
            </a:r>
          </a:p>
        </p:txBody>
      </p:sp>
      <p:sp>
        <p:nvSpPr>
          <p:cNvPr id="102" name="Shape 29"/>
          <p:cNvSpPr/>
          <p:nvPr/>
        </p:nvSpPr>
        <p:spPr>
          <a:xfrm>
            <a:off x="6553645" y="4224139"/>
            <a:ext cx="2813894" cy="46732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30"/>
          <p:cNvSpPr txBox="1"/>
          <p:nvPr/>
        </p:nvSpPr>
        <p:spPr>
          <a:xfrm>
            <a:off x="6731445" y="4351139"/>
            <a:ext cx="532359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Буџет</a:t>
            </a:r>
          </a:p>
        </p:txBody>
      </p:sp>
      <p:sp>
        <p:nvSpPr>
          <p:cNvPr id="104" name="Text 31"/>
          <p:cNvSpPr txBox="1"/>
          <p:nvPr/>
        </p:nvSpPr>
        <p:spPr>
          <a:xfrm>
            <a:off x="7301904" y="4351139"/>
            <a:ext cx="1944471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$2.00 - $4.00 по епизоди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8636000" y="0"/>
            <a:ext cx="3556000" cy="3556000"/>
          </a:xfrm>
          <a:prstGeom prst="roundRect">
            <a:avLst>
              <a:gd name="adj" fmla="val 45714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2"/>
          <p:cNvSpPr txBox="1"/>
          <p:nvPr/>
        </p:nvSpPr>
        <p:spPr>
          <a:xfrm>
            <a:off x="698500" y="571499"/>
            <a:ext cx="11118850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Резултати · примарна матрица</a:t>
            </a:r>
          </a:p>
        </p:txBody>
      </p:sp>
      <p:sp>
        <p:nvSpPr>
          <p:cNvPr id="111" name="Text 3"/>
          <p:cNvSpPr txBox="1"/>
          <p:nvPr/>
        </p:nvSpPr>
        <p:spPr>
          <a:xfrm>
            <a:off x="698500" y="1014709"/>
            <a:ext cx="11118850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39 епизода · 3 сценарија × 3 модела · C извршно окружење</a:t>
            </a:r>
          </a:p>
        </p:txBody>
      </p:sp>
      <p:graphicFrame>
        <p:nvGraphicFramePr>
          <p:cNvPr id="112" name="Table 0"/>
          <p:cNvGraphicFramePr/>
          <p:nvPr/>
        </p:nvGraphicFramePr>
        <p:xfrm>
          <a:off x="698500" y="2619375"/>
          <a:ext cx="7086600" cy="25094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71650"/>
                <a:gridCol w="1771650"/>
                <a:gridCol w="1771650"/>
                <a:gridCol w="1771650"/>
              </a:tblGrid>
              <a:tr h="62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b="1"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Haiku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b="1"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Sonnet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b="1"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Opus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62736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lab-a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5555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62736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lab-b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AAAA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627360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lab-c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AAAA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67%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Shape 4"/>
          <p:cNvSpPr/>
          <p:nvPr/>
        </p:nvSpPr>
        <p:spPr>
          <a:xfrm>
            <a:off x="8191500" y="2689225"/>
            <a:ext cx="2563068" cy="99060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5"/>
          <p:cNvSpPr txBox="1"/>
          <p:nvPr/>
        </p:nvSpPr>
        <p:spPr>
          <a:xfrm>
            <a:off x="8420100" y="2854325"/>
            <a:ext cx="2169044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5200"/>
              </a:lnSpc>
              <a:defRPr b="1" sz="5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48,7%</a:t>
            </a:r>
          </a:p>
        </p:txBody>
      </p:sp>
      <p:sp>
        <p:nvSpPr>
          <p:cNvPr id="115" name="Text 6"/>
          <p:cNvSpPr txBox="1"/>
          <p:nvPr/>
        </p:nvSpPr>
        <p:spPr>
          <a:xfrm>
            <a:off x="8191499" y="3806825"/>
            <a:ext cx="3401061" cy="283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b="1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укупна стопа успеха (19/39)</a:t>
            </a:r>
          </a:p>
        </p:txBody>
      </p:sp>
      <p:sp>
        <p:nvSpPr>
          <p:cNvPr id="116" name="Shape 7"/>
          <p:cNvSpPr/>
          <p:nvPr/>
        </p:nvSpPr>
        <p:spPr>
          <a:xfrm>
            <a:off x="8191500" y="4188419"/>
            <a:ext cx="3302000" cy="12701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8"/>
          <p:cNvSpPr txBox="1"/>
          <p:nvPr/>
        </p:nvSpPr>
        <p:spPr>
          <a:xfrm>
            <a:off x="8191499" y="4324944"/>
            <a:ext cx="3401061" cy="772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900"/>
              </a:lnSpc>
              <a:defRPr b="1" sz="2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&lt; $1 </a:t>
            </a:r>
            <a:r>
              <a:rPr>
                <a:solidFill>
                  <a:srgbClr val="555555"/>
                </a:solidFill>
              </a:rPr>
              <a:t>по успешној епизоди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355600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2"/>
          <p:cNvSpPr txBox="1"/>
          <p:nvPr/>
        </p:nvSpPr>
        <p:spPr>
          <a:xfrm>
            <a:off x="698500" y="571499"/>
            <a:ext cx="4425261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Резултати по сценарију</a:t>
            </a:r>
          </a:p>
        </p:txBody>
      </p:sp>
      <p:sp>
        <p:nvSpPr>
          <p:cNvPr id="124" name="Text 3"/>
          <p:cNvSpPr txBox="1"/>
          <p:nvPr/>
        </p:nvSpPr>
        <p:spPr>
          <a:xfrm>
            <a:off x="9134511" y="737889"/>
            <a:ext cx="632967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излазак</a:t>
            </a:r>
          </a:p>
        </p:txBody>
      </p:sp>
      <p:sp>
        <p:nvSpPr>
          <p:cNvPr id="125" name="Text 4"/>
          <p:cNvSpPr txBox="1"/>
          <p:nvPr/>
        </p:nvSpPr>
        <p:spPr>
          <a:xfrm>
            <a:off x="10486174" y="737889"/>
            <a:ext cx="47878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успех</a:t>
            </a:r>
          </a:p>
        </p:txBody>
      </p:sp>
      <p:sp>
        <p:nvSpPr>
          <p:cNvPr id="126" name="Text 5"/>
          <p:cNvSpPr txBox="1"/>
          <p:nvPr/>
        </p:nvSpPr>
        <p:spPr>
          <a:xfrm>
            <a:off x="698500" y="2386359"/>
            <a:ext cx="812800" cy="309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b="1" sz="1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lab-a</a:t>
            </a:r>
          </a:p>
        </p:txBody>
      </p:sp>
      <p:sp>
        <p:nvSpPr>
          <p:cNvPr id="127" name="Shape 6"/>
          <p:cNvSpPr/>
          <p:nvPr/>
        </p:nvSpPr>
        <p:spPr>
          <a:xfrm>
            <a:off x="1689100" y="2273300"/>
            <a:ext cx="4686300" cy="203200"/>
          </a:xfrm>
          <a:prstGeom prst="rect">
            <a:avLst/>
          </a:prstGeom>
          <a:solidFill>
            <a:srgbClr val="9A9A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7"/>
          <p:cNvSpPr txBox="1"/>
          <p:nvPr/>
        </p:nvSpPr>
        <p:spPr>
          <a:xfrm>
            <a:off x="6502400" y="2259359"/>
            <a:ext cx="561132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92,3%</a:t>
            </a:r>
          </a:p>
        </p:txBody>
      </p:sp>
      <p:sp>
        <p:nvSpPr>
          <p:cNvPr id="129" name="Shape 8"/>
          <p:cNvSpPr/>
          <p:nvPr/>
        </p:nvSpPr>
        <p:spPr>
          <a:xfrm>
            <a:off x="1689100" y="2580630"/>
            <a:ext cx="3517900" cy="203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9"/>
          <p:cNvSpPr txBox="1"/>
          <p:nvPr/>
        </p:nvSpPr>
        <p:spPr>
          <a:xfrm>
            <a:off x="5333999" y="2566690"/>
            <a:ext cx="587278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69,2%</a:t>
            </a:r>
          </a:p>
        </p:txBody>
      </p:sp>
      <p:sp>
        <p:nvSpPr>
          <p:cNvPr id="131" name="Text 10"/>
          <p:cNvSpPr txBox="1"/>
          <p:nvPr/>
        </p:nvSpPr>
        <p:spPr>
          <a:xfrm>
            <a:off x="698500" y="3178819"/>
            <a:ext cx="812800" cy="309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b="1" sz="1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lab-b</a:t>
            </a:r>
          </a:p>
        </p:txBody>
      </p:sp>
      <p:sp>
        <p:nvSpPr>
          <p:cNvPr id="132" name="Shape 11"/>
          <p:cNvSpPr/>
          <p:nvPr/>
        </p:nvSpPr>
        <p:spPr>
          <a:xfrm>
            <a:off x="1689100" y="3065759"/>
            <a:ext cx="2349500" cy="203201"/>
          </a:xfrm>
          <a:prstGeom prst="rect">
            <a:avLst/>
          </a:prstGeom>
          <a:solidFill>
            <a:srgbClr val="9A9A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2"/>
          <p:cNvSpPr txBox="1"/>
          <p:nvPr/>
        </p:nvSpPr>
        <p:spPr>
          <a:xfrm>
            <a:off x="4165599" y="3051819"/>
            <a:ext cx="564656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46,2%</a:t>
            </a:r>
          </a:p>
        </p:txBody>
      </p:sp>
      <p:sp>
        <p:nvSpPr>
          <p:cNvPr id="134" name="Shape 13"/>
          <p:cNvSpPr/>
          <p:nvPr/>
        </p:nvSpPr>
        <p:spPr>
          <a:xfrm>
            <a:off x="1689100" y="3373089"/>
            <a:ext cx="1955800" cy="203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4"/>
          <p:cNvSpPr txBox="1"/>
          <p:nvPr/>
        </p:nvSpPr>
        <p:spPr>
          <a:xfrm>
            <a:off x="3771899" y="3359149"/>
            <a:ext cx="585839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38,5%</a:t>
            </a:r>
          </a:p>
        </p:txBody>
      </p:sp>
      <p:sp>
        <p:nvSpPr>
          <p:cNvPr id="136" name="Text 15"/>
          <p:cNvSpPr txBox="1"/>
          <p:nvPr/>
        </p:nvSpPr>
        <p:spPr>
          <a:xfrm>
            <a:off x="698500" y="3971280"/>
            <a:ext cx="812800" cy="309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b="1" sz="1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lab-c</a:t>
            </a:r>
          </a:p>
        </p:txBody>
      </p:sp>
      <p:sp>
        <p:nvSpPr>
          <p:cNvPr id="137" name="Shape 16"/>
          <p:cNvSpPr/>
          <p:nvPr/>
        </p:nvSpPr>
        <p:spPr>
          <a:xfrm>
            <a:off x="1689100" y="3858219"/>
            <a:ext cx="1955800" cy="203201"/>
          </a:xfrm>
          <a:prstGeom prst="rect">
            <a:avLst/>
          </a:prstGeom>
          <a:solidFill>
            <a:srgbClr val="9A9A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7"/>
          <p:cNvSpPr txBox="1"/>
          <p:nvPr/>
        </p:nvSpPr>
        <p:spPr>
          <a:xfrm>
            <a:off x="3771899" y="3844280"/>
            <a:ext cx="556520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38,5%</a:t>
            </a:r>
          </a:p>
        </p:txBody>
      </p:sp>
      <p:sp>
        <p:nvSpPr>
          <p:cNvPr id="139" name="Shape 18"/>
          <p:cNvSpPr/>
          <p:nvPr/>
        </p:nvSpPr>
        <p:spPr>
          <a:xfrm>
            <a:off x="1689100" y="4165550"/>
            <a:ext cx="1955800" cy="203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9"/>
          <p:cNvSpPr txBox="1"/>
          <p:nvPr/>
        </p:nvSpPr>
        <p:spPr>
          <a:xfrm>
            <a:off x="3771899" y="4151610"/>
            <a:ext cx="585839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38,5%</a:t>
            </a:r>
          </a:p>
        </p:txBody>
      </p:sp>
      <p:sp>
        <p:nvSpPr>
          <p:cNvPr id="141" name="Shape 20"/>
          <p:cNvSpPr/>
          <p:nvPr/>
        </p:nvSpPr>
        <p:spPr>
          <a:xfrm>
            <a:off x="704850" y="5697239"/>
            <a:ext cx="10782300" cy="582911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21"/>
          <p:cNvSpPr txBox="1"/>
          <p:nvPr/>
        </p:nvSpPr>
        <p:spPr>
          <a:xfrm>
            <a:off x="965200" y="5868689"/>
            <a:ext cx="10569448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lab-b и lab-c имају исту стопу успеха. Код lab-c свaки излазак води до успеха.</a:t>
            </a:r>
          </a:p>
        </p:txBody>
      </p:sp>
      <p:sp>
        <p:nvSpPr>
          <p:cNvPr id="143" name="Shape 17"/>
          <p:cNvSpPr/>
          <p:nvPr/>
        </p:nvSpPr>
        <p:spPr>
          <a:xfrm>
            <a:off x="9833790" y="728984"/>
            <a:ext cx="257474" cy="256531"/>
          </a:xfrm>
          <a:prstGeom prst="rect">
            <a:avLst/>
          </a:prstGeom>
          <a:solidFill>
            <a:srgbClr val="7A7A7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19"/>
          <p:cNvSpPr/>
          <p:nvPr/>
        </p:nvSpPr>
        <p:spPr>
          <a:xfrm>
            <a:off x="11059965" y="730249"/>
            <a:ext cx="234951" cy="2540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8763000" y="3429000"/>
            <a:ext cx="3429000" cy="3429000"/>
          </a:xfrm>
          <a:prstGeom prst="roundRect">
            <a:avLst>
              <a:gd name="adj" fmla="val 47407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2"/>
          <p:cNvSpPr txBox="1"/>
          <p:nvPr/>
        </p:nvSpPr>
        <p:spPr>
          <a:xfrm>
            <a:off x="698500" y="508000"/>
            <a:ext cx="3770649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b="1" sz="25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Резултати по моделу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8901137" y="583902"/>
            <a:ext cx="460326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Haiku</a:t>
            </a:r>
          </a:p>
        </p:txBody>
      </p:sp>
      <p:sp>
        <p:nvSpPr>
          <p:cNvPr id="152" name="Text 4"/>
          <p:cNvSpPr txBox="1"/>
          <p:nvPr/>
        </p:nvSpPr>
        <p:spPr>
          <a:xfrm>
            <a:off x="9777040" y="583902"/>
            <a:ext cx="558751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Sonnet</a:t>
            </a:r>
          </a:p>
        </p:txBody>
      </p:sp>
      <p:sp>
        <p:nvSpPr>
          <p:cNvPr id="153" name="Text 5"/>
          <p:cNvSpPr txBox="1"/>
          <p:nvPr/>
        </p:nvSpPr>
        <p:spPr>
          <a:xfrm>
            <a:off x="10751368" y="583902"/>
            <a:ext cx="431205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Opus</a:t>
            </a:r>
          </a:p>
        </p:txBody>
      </p:sp>
      <p:sp>
        <p:nvSpPr>
          <p:cNvPr id="154" name="Text 6"/>
          <p:cNvSpPr txBox="1"/>
          <p:nvPr/>
        </p:nvSpPr>
        <p:spPr>
          <a:xfrm>
            <a:off x="698500" y="1063624"/>
            <a:ext cx="3348736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Стопа успеха</a:t>
            </a:r>
          </a:p>
        </p:txBody>
      </p:sp>
      <p:sp>
        <p:nvSpPr>
          <p:cNvPr id="155" name="Shape 7"/>
          <p:cNvSpPr/>
          <p:nvPr/>
        </p:nvSpPr>
        <p:spPr>
          <a:xfrm>
            <a:off x="698500" y="2866677"/>
            <a:ext cx="323850" cy="254001"/>
          </a:xfrm>
          <a:prstGeom prst="rect">
            <a:avLst/>
          </a:prstGeom>
          <a:solidFill>
            <a:srgbClr val="C4C4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8"/>
          <p:cNvSpPr txBox="1"/>
          <p:nvPr/>
        </p:nvSpPr>
        <p:spPr>
          <a:xfrm>
            <a:off x="1123949" y="2878088"/>
            <a:ext cx="550666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13,3%</a:t>
            </a:r>
          </a:p>
        </p:txBody>
      </p:sp>
      <p:sp>
        <p:nvSpPr>
          <p:cNvPr id="157" name="Shape 9"/>
          <p:cNvSpPr/>
          <p:nvPr/>
        </p:nvSpPr>
        <p:spPr>
          <a:xfrm>
            <a:off x="698500" y="3285778"/>
            <a:ext cx="1778000" cy="254001"/>
          </a:xfrm>
          <a:prstGeom prst="rect">
            <a:avLst/>
          </a:prstGeom>
          <a:solidFill>
            <a:srgbClr val="7A7A7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0"/>
          <p:cNvSpPr txBox="1"/>
          <p:nvPr/>
        </p:nvSpPr>
        <p:spPr>
          <a:xfrm>
            <a:off x="2578100" y="3297187"/>
            <a:ext cx="572740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73,3%</a:t>
            </a:r>
          </a:p>
        </p:txBody>
      </p:sp>
      <p:sp>
        <p:nvSpPr>
          <p:cNvPr id="159" name="Shape 11"/>
          <p:cNvSpPr/>
          <p:nvPr/>
        </p:nvSpPr>
        <p:spPr>
          <a:xfrm>
            <a:off x="698500" y="3704878"/>
            <a:ext cx="1619250" cy="2540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2"/>
          <p:cNvSpPr txBox="1"/>
          <p:nvPr/>
        </p:nvSpPr>
        <p:spPr>
          <a:xfrm>
            <a:off x="2419350" y="3716287"/>
            <a:ext cx="574973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66,7%</a:t>
            </a:r>
          </a:p>
        </p:txBody>
      </p:sp>
      <p:sp>
        <p:nvSpPr>
          <p:cNvPr id="161" name="Shape 13"/>
          <p:cNvSpPr/>
          <p:nvPr/>
        </p:nvSpPr>
        <p:spPr>
          <a:xfrm>
            <a:off x="4203700" y="1063625"/>
            <a:ext cx="12700" cy="430212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4"/>
          <p:cNvSpPr txBox="1"/>
          <p:nvPr/>
        </p:nvSpPr>
        <p:spPr>
          <a:xfrm>
            <a:off x="4470400" y="1063624"/>
            <a:ext cx="3348736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Просечан број корака</a:t>
            </a:r>
          </a:p>
        </p:txBody>
      </p:sp>
      <p:sp>
        <p:nvSpPr>
          <p:cNvPr id="163" name="Shape 15"/>
          <p:cNvSpPr/>
          <p:nvPr/>
        </p:nvSpPr>
        <p:spPr>
          <a:xfrm>
            <a:off x="4470400" y="2866677"/>
            <a:ext cx="1778000" cy="254001"/>
          </a:xfrm>
          <a:prstGeom prst="rect">
            <a:avLst/>
          </a:prstGeom>
          <a:solidFill>
            <a:srgbClr val="C4C4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16"/>
          <p:cNvSpPr txBox="1"/>
          <p:nvPr/>
        </p:nvSpPr>
        <p:spPr>
          <a:xfrm>
            <a:off x="6349999" y="2878088"/>
            <a:ext cx="333228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129</a:t>
            </a:r>
          </a:p>
        </p:txBody>
      </p:sp>
      <p:sp>
        <p:nvSpPr>
          <p:cNvPr id="165" name="Shape 17"/>
          <p:cNvSpPr/>
          <p:nvPr/>
        </p:nvSpPr>
        <p:spPr>
          <a:xfrm>
            <a:off x="4470400" y="3285778"/>
            <a:ext cx="717550" cy="254001"/>
          </a:xfrm>
          <a:prstGeom prst="rect">
            <a:avLst/>
          </a:prstGeom>
          <a:solidFill>
            <a:srgbClr val="7A7A7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8"/>
          <p:cNvSpPr txBox="1"/>
          <p:nvPr/>
        </p:nvSpPr>
        <p:spPr>
          <a:xfrm>
            <a:off x="5289550" y="3297187"/>
            <a:ext cx="257473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52</a:t>
            </a:r>
          </a:p>
        </p:txBody>
      </p:sp>
      <p:sp>
        <p:nvSpPr>
          <p:cNvPr id="167" name="Shape 19"/>
          <p:cNvSpPr/>
          <p:nvPr/>
        </p:nvSpPr>
        <p:spPr>
          <a:xfrm>
            <a:off x="4470400" y="3704878"/>
            <a:ext cx="234950" cy="2540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0"/>
          <p:cNvSpPr txBox="1"/>
          <p:nvPr/>
        </p:nvSpPr>
        <p:spPr>
          <a:xfrm>
            <a:off x="4806949" y="3716287"/>
            <a:ext cx="21803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69" name="Shape 21"/>
          <p:cNvSpPr/>
          <p:nvPr/>
        </p:nvSpPr>
        <p:spPr>
          <a:xfrm>
            <a:off x="7975600" y="1063625"/>
            <a:ext cx="12700" cy="430212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2"/>
          <p:cNvSpPr txBox="1"/>
          <p:nvPr/>
        </p:nvSpPr>
        <p:spPr>
          <a:xfrm>
            <a:off x="8242300" y="1063624"/>
            <a:ext cx="3348736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Просечан буџет</a:t>
            </a:r>
          </a:p>
        </p:txBody>
      </p:sp>
      <p:sp>
        <p:nvSpPr>
          <p:cNvPr id="171" name="Shape 23"/>
          <p:cNvSpPr/>
          <p:nvPr/>
        </p:nvSpPr>
        <p:spPr>
          <a:xfrm>
            <a:off x="8242300" y="2866677"/>
            <a:ext cx="1054100" cy="254001"/>
          </a:xfrm>
          <a:prstGeom prst="rect">
            <a:avLst/>
          </a:prstGeom>
          <a:solidFill>
            <a:srgbClr val="C4C4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24"/>
          <p:cNvSpPr txBox="1"/>
          <p:nvPr/>
        </p:nvSpPr>
        <p:spPr>
          <a:xfrm>
            <a:off x="9398000" y="2878088"/>
            <a:ext cx="49902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$1,09</a:t>
            </a:r>
          </a:p>
        </p:txBody>
      </p:sp>
      <p:sp>
        <p:nvSpPr>
          <p:cNvPr id="173" name="Shape 25"/>
          <p:cNvSpPr/>
          <p:nvPr/>
        </p:nvSpPr>
        <p:spPr>
          <a:xfrm>
            <a:off x="8242300" y="3285778"/>
            <a:ext cx="958850" cy="254001"/>
          </a:xfrm>
          <a:prstGeom prst="rect">
            <a:avLst/>
          </a:prstGeom>
          <a:solidFill>
            <a:srgbClr val="7A7A7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26"/>
          <p:cNvSpPr txBox="1"/>
          <p:nvPr/>
        </p:nvSpPr>
        <p:spPr>
          <a:xfrm>
            <a:off x="9302750" y="3297187"/>
            <a:ext cx="533003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$0,99</a:t>
            </a:r>
          </a:p>
        </p:txBody>
      </p:sp>
      <p:sp>
        <p:nvSpPr>
          <p:cNvPr id="175" name="Shape 27"/>
          <p:cNvSpPr/>
          <p:nvPr/>
        </p:nvSpPr>
        <p:spPr>
          <a:xfrm>
            <a:off x="8242300" y="3704878"/>
            <a:ext cx="1778000" cy="2540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8"/>
          <p:cNvSpPr txBox="1"/>
          <p:nvPr/>
        </p:nvSpPr>
        <p:spPr>
          <a:xfrm>
            <a:off x="10121900" y="3716287"/>
            <a:ext cx="499715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$1,84</a:t>
            </a:r>
          </a:p>
        </p:txBody>
      </p:sp>
      <p:sp>
        <p:nvSpPr>
          <p:cNvPr id="177" name="Shape 29"/>
          <p:cNvSpPr/>
          <p:nvPr/>
        </p:nvSpPr>
        <p:spPr>
          <a:xfrm>
            <a:off x="698500" y="5648325"/>
            <a:ext cx="76200" cy="7620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30"/>
          <p:cNvSpPr txBox="1"/>
          <p:nvPr/>
        </p:nvSpPr>
        <p:spPr>
          <a:xfrm>
            <a:off x="876299" y="5556250"/>
            <a:ext cx="5180436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Јасна граница способности: Haiku потпуно пада на lab-b и lab-c</a:t>
            </a:r>
          </a:p>
        </p:txBody>
      </p:sp>
      <p:sp>
        <p:nvSpPr>
          <p:cNvPr id="179" name="Shape 31"/>
          <p:cNvSpPr/>
          <p:nvPr/>
        </p:nvSpPr>
        <p:spPr>
          <a:xfrm>
            <a:off x="698500" y="5934075"/>
            <a:ext cx="76200" cy="7620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32"/>
          <p:cNvSpPr txBox="1"/>
          <p:nvPr/>
        </p:nvSpPr>
        <p:spPr>
          <a:xfrm>
            <a:off x="876299" y="5842000"/>
            <a:ext cx="464958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Opus најефикаснији по кораку, али најскупљи по епизоди</a:t>
            </a:r>
          </a:p>
        </p:txBody>
      </p:sp>
      <p:sp>
        <p:nvSpPr>
          <p:cNvPr id="181" name="Shape 33"/>
          <p:cNvSpPr/>
          <p:nvPr/>
        </p:nvSpPr>
        <p:spPr>
          <a:xfrm>
            <a:off x="698500" y="6219825"/>
            <a:ext cx="76200" cy="7620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34"/>
          <p:cNvSpPr txBox="1"/>
          <p:nvPr/>
        </p:nvSpPr>
        <p:spPr>
          <a:xfrm>
            <a:off x="876300" y="6127750"/>
            <a:ext cx="775182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Сва 3 неуспеха Opus-а су budget_stopped → разлика Sonnet/Opus није закључак о способности</a:t>
            </a:r>
          </a:p>
        </p:txBody>
      </p:sp>
      <p:sp>
        <p:nvSpPr>
          <p:cNvPr id="183" name="Shape 15"/>
          <p:cNvSpPr/>
          <p:nvPr/>
        </p:nvSpPr>
        <p:spPr>
          <a:xfrm>
            <a:off x="9440515" y="576262"/>
            <a:ext cx="257473" cy="254001"/>
          </a:xfrm>
          <a:prstGeom prst="rect">
            <a:avLst/>
          </a:prstGeom>
          <a:solidFill>
            <a:srgbClr val="C4C4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17"/>
          <p:cNvSpPr/>
          <p:nvPr/>
        </p:nvSpPr>
        <p:spPr>
          <a:xfrm>
            <a:off x="10348763" y="574997"/>
            <a:ext cx="257474" cy="256531"/>
          </a:xfrm>
          <a:prstGeom prst="rect">
            <a:avLst/>
          </a:prstGeom>
          <a:solidFill>
            <a:srgbClr val="7A7A7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19"/>
          <p:cNvSpPr/>
          <p:nvPr/>
        </p:nvSpPr>
        <p:spPr>
          <a:xfrm>
            <a:off x="11317452" y="576262"/>
            <a:ext cx="234951" cy="2540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"/>
          <p:cNvSpPr txBox="1"/>
          <p:nvPr/>
        </p:nvSpPr>
        <p:spPr>
          <a:xfrm>
            <a:off x="698500" y="558800"/>
            <a:ext cx="111188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b="1" sz="25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Генерализација на извршна окружења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698500" y="987425"/>
            <a:ext cx="111188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lab-a + Sonnet, варира се извршно окружење жртве</a:t>
            </a:r>
          </a:p>
        </p:txBody>
      </p:sp>
      <p:graphicFrame>
        <p:nvGraphicFramePr>
          <p:cNvPr id="193" name="Table 0"/>
          <p:cNvGraphicFramePr/>
          <p:nvPr/>
        </p:nvGraphicFramePr>
        <p:xfrm>
          <a:off x="698500" y="1400175"/>
          <a:ext cx="10795000" cy="2062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98750"/>
                <a:gridCol w="2698750"/>
                <a:gridCol w="2698750"/>
                <a:gridCol w="2698750"/>
              </a:tblGrid>
              <a:tr h="515590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defRPr sz="1800"/>
                      </a:pPr>
                      <a:r>
                        <a:rPr b="1"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Извршно окружење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b="1"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Стопа успеха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b="1"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Просечан број корака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b="1"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Трошак / еп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515590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(5/5)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52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$0,56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515590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(5/5)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$0,77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  <a:tr h="515590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Java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80% (4/5)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74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$1,21</a:t>
                      </a:r>
                    </a:p>
                  </a:txBody>
                  <a:tcPr marL="127000" marR="127000" marT="127000" marB="127000" anchor="t" anchorCtr="0" horzOverflow="overflow">
                    <a:lnL w="12700">
                      <a:solidFill>
                        <a:srgbClr val="CDCDCD"/>
                      </a:solidFill>
                    </a:lnL>
                    <a:lnR w="12700">
                      <a:solidFill>
                        <a:srgbClr val="CDCDCD"/>
                      </a:solidFill>
                    </a:lnR>
                    <a:lnT w="12700">
                      <a:solidFill>
                        <a:srgbClr val="CDCDCD"/>
                      </a:solidFill>
                    </a:lnT>
                    <a:lnB w="12700">
                      <a:solidFill>
                        <a:srgbClr val="CDCD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4" name="Shape 4"/>
          <p:cNvSpPr/>
          <p:nvPr/>
        </p:nvSpPr>
        <p:spPr>
          <a:xfrm>
            <a:off x="698500" y="375781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5"/>
          <p:cNvSpPr txBox="1"/>
          <p:nvPr/>
        </p:nvSpPr>
        <p:spPr>
          <a:xfrm>
            <a:off x="889000" y="3665735"/>
            <a:ext cx="5679760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Скенирање /proc/&lt;pid&gt;/mem ради без знања о конкретном окружењу</a:t>
            </a:r>
          </a:p>
        </p:txBody>
      </p:sp>
      <p:sp>
        <p:nvSpPr>
          <p:cNvPr id="196" name="Shape 6"/>
          <p:cNvSpPr/>
          <p:nvPr/>
        </p:nvSpPr>
        <p:spPr>
          <a:xfrm>
            <a:off x="698500" y="405626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7"/>
          <p:cNvSpPr txBox="1"/>
          <p:nvPr/>
        </p:nvSpPr>
        <p:spPr>
          <a:xfrm>
            <a:off x="889000" y="3964185"/>
            <a:ext cx="4524646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Агент тражи префикс THESISKEY{ — генеричан приступ</a:t>
            </a:r>
          </a:p>
        </p:txBody>
      </p:sp>
      <p:sp>
        <p:nvSpPr>
          <p:cNvPr id="198" name="Shape 8"/>
          <p:cNvSpPr/>
          <p:nvPr/>
        </p:nvSpPr>
        <p:spPr>
          <a:xfrm>
            <a:off x="698500" y="435471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9"/>
          <p:cNvSpPr txBox="1"/>
          <p:nvPr/>
        </p:nvSpPr>
        <p:spPr>
          <a:xfrm>
            <a:off x="889000" y="4262635"/>
            <a:ext cx="5661263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Python и Java имају већи меморијски отисак → више корака и трошка</a:t>
            </a:r>
          </a:p>
        </p:txBody>
      </p:sp>
      <p:sp>
        <p:nvSpPr>
          <p:cNvPr id="200" name="Shape 10"/>
          <p:cNvSpPr/>
          <p:nvPr/>
        </p:nvSpPr>
        <p:spPr>
          <a:xfrm>
            <a:off x="698500" y="465316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1"/>
          <p:cNvSpPr txBox="1"/>
          <p:nvPr/>
        </p:nvSpPr>
        <p:spPr>
          <a:xfrm>
            <a:off x="888999" y="4561085"/>
            <a:ext cx="6492726" cy="24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Java 80%: једини неуспех је исцрпљен буџет током скенирања (већи JVM heap)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EE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2"/>
          <p:cNvSpPr txBox="1"/>
          <p:nvPr/>
        </p:nvSpPr>
        <p:spPr>
          <a:xfrm>
            <a:off x="698500" y="571499"/>
            <a:ext cx="11118850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Грешке и увиди</a:t>
            </a:r>
          </a:p>
        </p:txBody>
      </p:sp>
      <p:sp>
        <p:nvSpPr>
          <p:cNvPr id="208" name="Text 3"/>
          <p:cNvSpPr txBox="1"/>
          <p:nvPr/>
        </p:nvSpPr>
        <p:spPr>
          <a:xfrm>
            <a:off x="698499" y="1230609"/>
            <a:ext cx="5186619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z="14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Режими неуспеха</a:t>
            </a:r>
          </a:p>
        </p:txBody>
      </p:sp>
      <p:sp>
        <p:nvSpPr>
          <p:cNvPr id="209" name="Shape 4"/>
          <p:cNvSpPr/>
          <p:nvPr/>
        </p:nvSpPr>
        <p:spPr>
          <a:xfrm>
            <a:off x="698500" y="2115096"/>
            <a:ext cx="503555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5"/>
          <p:cNvSpPr txBox="1"/>
          <p:nvPr/>
        </p:nvSpPr>
        <p:spPr>
          <a:xfrm>
            <a:off x="698500" y="1708100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12/21</a:t>
            </a:r>
          </a:p>
        </p:txBody>
      </p:sp>
      <p:sp>
        <p:nvSpPr>
          <p:cNvPr id="211" name="Text 6"/>
          <p:cNvSpPr txBox="1"/>
          <p:nvPr/>
        </p:nvSpPr>
        <p:spPr>
          <a:xfrm>
            <a:off x="1536699" y="1739205"/>
            <a:ext cx="1472408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Исцрпљен буџет</a:t>
            </a:r>
          </a:p>
        </p:txBody>
      </p:sp>
      <p:sp>
        <p:nvSpPr>
          <p:cNvPr id="212" name="Shape 7"/>
          <p:cNvSpPr/>
          <p:nvPr/>
        </p:nvSpPr>
        <p:spPr>
          <a:xfrm>
            <a:off x="698500" y="2626866"/>
            <a:ext cx="503555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8"/>
          <p:cNvSpPr txBox="1"/>
          <p:nvPr/>
        </p:nvSpPr>
        <p:spPr>
          <a:xfrm>
            <a:off x="698500" y="2219871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4/21</a:t>
            </a:r>
          </a:p>
        </p:txBody>
      </p:sp>
      <p:sp>
        <p:nvSpPr>
          <p:cNvPr id="214" name="Text 9"/>
          <p:cNvSpPr txBox="1"/>
          <p:nvPr/>
        </p:nvSpPr>
        <p:spPr>
          <a:xfrm>
            <a:off x="1536699" y="2250975"/>
            <a:ext cx="2753093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Неодабран вектор </a:t>
            </a:r>
            <a:r>
              <a:rPr>
                <a:solidFill>
                  <a:srgbClr val="888888"/>
                </a:solidFill>
              </a:rPr>
              <a:t>(само Haiku)</a:t>
            </a:r>
          </a:p>
        </p:txBody>
      </p:sp>
      <p:sp>
        <p:nvSpPr>
          <p:cNvPr id="215" name="Shape 10"/>
          <p:cNvSpPr/>
          <p:nvPr/>
        </p:nvSpPr>
        <p:spPr>
          <a:xfrm>
            <a:off x="698500" y="3138635"/>
            <a:ext cx="503555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11"/>
          <p:cNvSpPr txBox="1"/>
          <p:nvPr/>
        </p:nvSpPr>
        <p:spPr>
          <a:xfrm>
            <a:off x="698500" y="2731641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4/21</a:t>
            </a:r>
          </a:p>
        </p:txBody>
      </p:sp>
      <p:sp>
        <p:nvSpPr>
          <p:cNvPr id="217" name="Text 12"/>
          <p:cNvSpPr txBox="1"/>
          <p:nvPr/>
        </p:nvSpPr>
        <p:spPr>
          <a:xfrm>
            <a:off x="1536699" y="2762746"/>
            <a:ext cx="2138541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Излазак без екстракције</a:t>
            </a:r>
          </a:p>
        </p:txBody>
      </p:sp>
      <p:sp>
        <p:nvSpPr>
          <p:cNvPr id="218" name="Shape 13"/>
          <p:cNvSpPr/>
          <p:nvPr/>
        </p:nvSpPr>
        <p:spPr>
          <a:xfrm>
            <a:off x="698500" y="3650407"/>
            <a:ext cx="503555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4"/>
          <p:cNvSpPr txBox="1"/>
          <p:nvPr/>
        </p:nvSpPr>
        <p:spPr>
          <a:xfrm>
            <a:off x="698500" y="3243410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3/21</a:t>
            </a:r>
          </a:p>
        </p:txBody>
      </p:sp>
      <p:sp>
        <p:nvSpPr>
          <p:cNvPr id="220" name="Text 15"/>
          <p:cNvSpPr txBox="1"/>
          <p:nvPr/>
        </p:nvSpPr>
        <p:spPr>
          <a:xfrm>
            <a:off x="1536699" y="3274516"/>
            <a:ext cx="1296345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Погрешан CVE</a:t>
            </a:r>
          </a:p>
        </p:txBody>
      </p:sp>
      <p:sp>
        <p:nvSpPr>
          <p:cNvPr id="221" name="Shape 16"/>
          <p:cNvSpPr/>
          <p:nvPr/>
        </p:nvSpPr>
        <p:spPr>
          <a:xfrm>
            <a:off x="698500" y="4162176"/>
            <a:ext cx="5035551" cy="1"/>
          </a:xfrm>
          <a:prstGeom prst="line">
            <a:avLst/>
          </a:prstGeom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7"/>
          <p:cNvSpPr txBox="1"/>
          <p:nvPr/>
        </p:nvSpPr>
        <p:spPr>
          <a:xfrm>
            <a:off x="698500" y="3755182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1/21</a:t>
            </a:r>
          </a:p>
        </p:txBody>
      </p:sp>
      <p:sp>
        <p:nvSpPr>
          <p:cNvPr id="223" name="Text 18"/>
          <p:cNvSpPr txBox="1"/>
          <p:nvPr/>
        </p:nvSpPr>
        <p:spPr>
          <a:xfrm>
            <a:off x="1536700" y="3786287"/>
            <a:ext cx="1551434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Халуциниран CVE</a:t>
            </a:r>
          </a:p>
        </p:txBody>
      </p:sp>
      <p:sp>
        <p:nvSpPr>
          <p:cNvPr id="224" name="Text 19"/>
          <p:cNvSpPr txBox="1"/>
          <p:nvPr/>
        </p:nvSpPr>
        <p:spPr>
          <a:xfrm>
            <a:off x="698500" y="4266951"/>
            <a:ext cx="749300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1/21</a:t>
            </a:r>
          </a:p>
        </p:txBody>
      </p:sp>
      <p:sp>
        <p:nvSpPr>
          <p:cNvPr id="225" name="Text 20"/>
          <p:cNvSpPr txBox="1"/>
          <p:nvPr/>
        </p:nvSpPr>
        <p:spPr>
          <a:xfrm>
            <a:off x="1536699" y="4298057"/>
            <a:ext cx="3320379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Преигравање оракла </a:t>
            </a:r>
            <a:r>
              <a:rPr>
                <a:solidFill>
                  <a:srgbClr val="888888"/>
                </a:solidFill>
              </a:rPr>
              <a:t>(reward hacking)</a:t>
            </a:r>
          </a:p>
        </p:txBody>
      </p:sp>
      <p:sp>
        <p:nvSpPr>
          <p:cNvPr id="226" name="Shape 21"/>
          <p:cNvSpPr/>
          <p:nvPr/>
        </p:nvSpPr>
        <p:spPr>
          <a:xfrm>
            <a:off x="6089650" y="1230609"/>
            <a:ext cx="12700" cy="5055892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22"/>
          <p:cNvSpPr txBox="1"/>
          <p:nvPr/>
        </p:nvSpPr>
        <p:spPr>
          <a:xfrm>
            <a:off x="6457949" y="1230609"/>
            <a:ext cx="5186619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z="14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Кључни увиди</a:t>
            </a:r>
          </a:p>
        </p:txBody>
      </p:sp>
      <p:sp>
        <p:nvSpPr>
          <p:cNvPr id="228" name="Text 23"/>
          <p:cNvSpPr txBox="1"/>
          <p:nvPr/>
        </p:nvSpPr>
        <p:spPr>
          <a:xfrm>
            <a:off x="6457949" y="1657300"/>
            <a:ext cx="5186619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Буџет пре способности</a:t>
            </a:r>
          </a:p>
        </p:txBody>
      </p:sp>
      <p:sp>
        <p:nvSpPr>
          <p:cNvPr id="229" name="Text 24"/>
          <p:cNvSpPr txBox="1"/>
          <p:nvPr/>
        </p:nvSpPr>
        <p:spPr>
          <a:xfrm>
            <a:off x="6457949" y="1991271"/>
            <a:ext cx="5186619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Главни фактор неуспеха је буџет, а не способност модела.</a:t>
            </a:r>
          </a:p>
        </p:txBody>
      </p:sp>
      <p:sp>
        <p:nvSpPr>
          <p:cNvPr id="230" name="Text 25"/>
          <p:cNvSpPr txBox="1"/>
          <p:nvPr/>
        </p:nvSpPr>
        <p:spPr>
          <a:xfrm>
            <a:off x="6457949" y="2400200"/>
            <a:ext cx="5186619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Haiku не повезује</a:t>
            </a:r>
          </a:p>
        </p:txBody>
      </p:sp>
      <p:sp>
        <p:nvSpPr>
          <p:cNvPr id="231" name="Text 26"/>
          <p:cNvSpPr txBox="1"/>
          <p:nvPr/>
        </p:nvSpPr>
        <p:spPr>
          <a:xfrm>
            <a:off x="6457949" y="2734171"/>
            <a:ext cx="5186619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Сигнал извиђања не претвара у стратегију напада.</a:t>
            </a:r>
          </a:p>
        </p:txBody>
      </p:sp>
      <p:sp>
        <p:nvSpPr>
          <p:cNvPr id="232" name="Shape 27"/>
          <p:cNvSpPr/>
          <p:nvPr/>
        </p:nvSpPr>
        <p:spPr>
          <a:xfrm>
            <a:off x="6457950" y="3143100"/>
            <a:ext cx="5035550" cy="110103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28"/>
          <p:cNvSpPr txBox="1"/>
          <p:nvPr/>
        </p:nvSpPr>
        <p:spPr>
          <a:xfrm>
            <a:off x="6648450" y="3295501"/>
            <a:ext cx="4794187" cy="28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Преигравање оракла</a:t>
            </a:r>
          </a:p>
        </p:txBody>
      </p:sp>
      <p:sp>
        <p:nvSpPr>
          <p:cNvPr id="234" name="Text 29"/>
          <p:cNvSpPr txBox="1"/>
          <p:nvPr/>
        </p:nvSpPr>
        <p:spPr>
          <a:xfrm>
            <a:off x="6648450" y="3629471"/>
            <a:ext cx="4794187" cy="487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Агент прочитао изворни код и покушао да фалсификује проверу.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8382000" y="3048000"/>
            <a:ext cx="3810000" cy="3810000"/>
          </a:xfrm>
          <a:prstGeom prst="roundRect">
            <a:avLst>
              <a:gd name="adj" fmla="val 42667"/>
            </a:avLst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Shape 1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2"/>
          <p:cNvSpPr txBox="1"/>
          <p:nvPr/>
        </p:nvSpPr>
        <p:spPr>
          <a:xfrm>
            <a:off x="698500" y="571499"/>
            <a:ext cx="11118850" cy="40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900"/>
              </a:lnSpc>
              <a:defRPr b="1" sz="26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Закључци</a:t>
            </a:r>
          </a:p>
        </p:txBody>
      </p:sp>
      <p:sp>
        <p:nvSpPr>
          <p:cNvPr id="241" name="Text 3"/>
          <p:cNvSpPr txBox="1"/>
          <p:nvPr/>
        </p:nvSpPr>
        <p:spPr>
          <a:xfrm>
            <a:off x="698499" y="1179809"/>
            <a:ext cx="5238943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Шта смо показали</a:t>
            </a:r>
          </a:p>
        </p:txBody>
      </p:sp>
      <p:sp>
        <p:nvSpPr>
          <p:cNvPr id="242" name="Text 4"/>
          <p:cNvSpPr txBox="1"/>
          <p:nvPr/>
        </p:nvSpPr>
        <p:spPr>
          <a:xfrm>
            <a:off x="698500" y="1546820"/>
            <a:ext cx="217835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43" name="Text 5"/>
          <p:cNvSpPr txBox="1"/>
          <p:nvPr/>
        </p:nvSpPr>
        <p:spPr>
          <a:xfrm>
            <a:off x="979835" y="1546820"/>
            <a:ext cx="4195884" cy="24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Аутономна експлоатација изолације је изводљива</a:t>
            </a:r>
          </a:p>
        </p:txBody>
      </p:sp>
      <p:sp>
        <p:nvSpPr>
          <p:cNvPr id="244" name="Text 6"/>
          <p:cNvSpPr txBox="1"/>
          <p:nvPr/>
        </p:nvSpPr>
        <p:spPr>
          <a:xfrm>
            <a:off x="698499" y="1896666"/>
            <a:ext cx="195165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45" name="Text 7"/>
          <p:cNvSpPr txBox="1"/>
          <p:nvPr/>
        </p:nvSpPr>
        <p:spPr>
          <a:xfrm>
            <a:off x="957162" y="1896666"/>
            <a:ext cx="4972519" cy="471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Модели средње и високе класе успевају на сва три типа рањивости</a:t>
            </a:r>
          </a:p>
        </p:txBody>
      </p:sp>
      <p:sp>
        <p:nvSpPr>
          <p:cNvPr id="246" name="Text 8"/>
          <p:cNvSpPr txBox="1"/>
          <p:nvPr/>
        </p:nvSpPr>
        <p:spPr>
          <a:xfrm>
            <a:off x="698500" y="2469356"/>
            <a:ext cx="217835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47" name="Text 9"/>
          <p:cNvSpPr txBox="1"/>
          <p:nvPr/>
        </p:nvSpPr>
        <p:spPr>
          <a:xfrm>
            <a:off x="979834" y="2469356"/>
            <a:ext cx="4381217" cy="24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Трошак &lt; $1, нижа баријера од ангажовања тестера</a:t>
            </a:r>
          </a:p>
        </p:txBody>
      </p:sp>
      <p:sp>
        <p:nvSpPr>
          <p:cNvPr id="248" name="Text 10"/>
          <p:cNvSpPr txBox="1"/>
          <p:nvPr/>
        </p:nvSpPr>
        <p:spPr>
          <a:xfrm>
            <a:off x="698500" y="2819201"/>
            <a:ext cx="217835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b="1" sz="1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49" name="Text 11"/>
          <p:cNvSpPr txBox="1"/>
          <p:nvPr/>
        </p:nvSpPr>
        <p:spPr>
          <a:xfrm>
            <a:off x="979834" y="2819201"/>
            <a:ext cx="2872406" cy="24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Постоји праг способности модела</a:t>
            </a:r>
          </a:p>
        </p:txBody>
      </p:sp>
      <p:sp>
        <p:nvSpPr>
          <p:cNvPr id="250" name="Shape 12"/>
          <p:cNvSpPr/>
          <p:nvPr/>
        </p:nvSpPr>
        <p:spPr>
          <a:xfrm>
            <a:off x="6089650" y="1179810"/>
            <a:ext cx="12700" cy="441077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3"/>
          <p:cNvSpPr txBox="1"/>
          <p:nvPr/>
        </p:nvSpPr>
        <p:spPr>
          <a:xfrm>
            <a:off x="6407149" y="1179809"/>
            <a:ext cx="5238943" cy="26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z="13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Импликације</a:t>
            </a:r>
          </a:p>
        </p:txBody>
      </p:sp>
      <p:sp>
        <p:nvSpPr>
          <p:cNvPr id="252" name="Shape 14"/>
          <p:cNvSpPr/>
          <p:nvPr/>
        </p:nvSpPr>
        <p:spPr>
          <a:xfrm>
            <a:off x="6407150" y="154682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15"/>
          <p:cNvSpPr txBox="1"/>
          <p:nvPr/>
        </p:nvSpPr>
        <p:spPr>
          <a:xfrm>
            <a:off x="6597649" y="1546820"/>
            <a:ext cx="4857652" cy="24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Привилеговани контејнери су тривијално експлоатабилни</a:t>
            </a:r>
          </a:p>
        </p:txBody>
      </p:sp>
      <p:sp>
        <p:nvSpPr>
          <p:cNvPr id="254" name="Shape 16"/>
          <p:cNvSpPr/>
          <p:nvPr/>
        </p:nvSpPr>
        <p:spPr>
          <a:xfrm>
            <a:off x="6407150" y="1896666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7"/>
          <p:cNvSpPr txBox="1"/>
          <p:nvPr/>
        </p:nvSpPr>
        <p:spPr>
          <a:xfrm>
            <a:off x="6597649" y="1896666"/>
            <a:ext cx="3127638" cy="24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Закрпа остаје најефикаснија одбрана</a:t>
            </a:r>
          </a:p>
        </p:txBody>
      </p:sp>
      <p:sp>
        <p:nvSpPr>
          <p:cNvPr id="256" name="Shape 18"/>
          <p:cNvSpPr/>
          <p:nvPr/>
        </p:nvSpPr>
        <p:spPr>
          <a:xfrm>
            <a:off x="6407150" y="2246510"/>
            <a:ext cx="76200" cy="76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19"/>
          <p:cNvSpPr txBox="1"/>
          <p:nvPr/>
        </p:nvSpPr>
        <p:spPr>
          <a:xfrm>
            <a:off x="6597650" y="2246510"/>
            <a:ext cx="5042726" cy="471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Оквир се може користити као алат за аутоматизовани пентест</a:t>
            </a:r>
          </a:p>
        </p:txBody>
      </p:sp>
      <p:sp>
        <p:nvSpPr>
          <p:cNvPr id="258" name="Shape 20"/>
          <p:cNvSpPr/>
          <p:nvPr/>
        </p:nvSpPr>
        <p:spPr>
          <a:xfrm>
            <a:off x="698500" y="5825530"/>
            <a:ext cx="10795001" cy="1"/>
          </a:xfrm>
          <a:prstGeom prst="line">
            <a:avLst/>
          </a:prstGeom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21"/>
          <p:cNvSpPr txBox="1"/>
          <p:nvPr/>
        </p:nvSpPr>
        <p:spPr>
          <a:xfrm>
            <a:off x="698499" y="5984280"/>
            <a:ext cx="3186196" cy="32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1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Хвала на пажњи. Питања?</a:t>
            </a:r>
          </a:p>
        </p:txBody>
      </p:sp>
      <p:sp>
        <p:nvSpPr>
          <p:cNvPr id="260" name="Text 22"/>
          <p:cNvSpPr txBox="1"/>
          <p:nvPr/>
        </p:nvSpPr>
        <p:spPr>
          <a:xfrm>
            <a:off x="9485213" y="6028730"/>
            <a:ext cx="2068536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Марко Ердељи · ФТН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